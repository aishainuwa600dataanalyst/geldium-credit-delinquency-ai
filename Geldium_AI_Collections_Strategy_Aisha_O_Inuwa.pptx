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4" r:id="rId3"/>
    <p:sldId id="257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4" d="100"/>
          <a:sy n="84" d="100"/>
        </p:scale>
        <p:origin x="99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certificate of the TATA GenAI Powered Data Analytics Job Simulation job simulation.</a:t>
            </a:r>
          </a:p>
        </p:txBody>
      </p:sp>
    </p:spTree>
    <p:extLst>
      <p:ext uri="{BB962C8B-B14F-4D97-AF65-F5344CB8AC3E}">
        <p14:creationId xmlns:p14="http://schemas.microsoft.com/office/powerpoint/2010/main" val="2990820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848180"/>
            <a:ext cx="5783400" cy="13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292372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1680302" y="3876913"/>
            <a:ext cx="5783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1" dirty="0">
                <a:solidFill>
                  <a:srgbClr val="CFD8DC"/>
                </a:solidFill>
                <a:latin typeface="Arial"/>
              </a:rPr>
              <a:t>Prepared by Aisha O. Inuwa  |  Task 4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4E8337A-D103-626A-4887-A9DBBE7F5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44399"/>
              </p:ext>
            </p:extLst>
          </p:nvPr>
        </p:nvGraphicFramePr>
        <p:xfrm>
          <a:off x="308610" y="81806"/>
          <a:ext cx="8526780" cy="497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8020012" imgH="5667195" progId="AcroExch.Document.7">
                  <p:embed/>
                </p:oleObj>
              </mc:Choice>
              <mc:Fallback>
                <p:oleObj name="Acrobat Document" r:id="rId3" imgW="8020012" imgH="5667195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610" y="81806"/>
                        <a:ext cx="8526780" cy="497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489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Works: End-to-End Flow</a:t>
            </a:r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387900" y="1750000"/>
            <a:ext cx="1850000" cy="255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07900" y="1870000"/>
            <a:ext cx="420000" cy="42000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7900" y="2370000"/>
            <a:ext cx="1670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9688"/>
                </a:solidFill>
                <a:latin typeface="Arial"/>
              </a:rPr>
              <a:t>DATA INPUTS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7900" y="3030000"/>
            <a:ext cx="1670000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Payment history (Month_1–Month_6)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Credit utilization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Credit score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Loan balance &amp; income</a:t>
            </a:r>
          </a:p>
        </p:txBody>
      </p:sp>
      <p:sp>
        <p:nvSpPr>
          <p:cNvPr id="74" name="Chevron 73"/>
          <p:cNvSpPr/>
          <p:nvPr/>
        </p:nvSpPr>
        <p:spPr>
          <a:xfrm>
            <a:off x="2247900" y="2935000"/>
            <a:ext cx="190000" cy="180000"/>
          </a:xfrm>
          <a:prstGeom prst="chevron">
            <a:avLst>
              <a:gd name="adj" fmla="val 55000"/>
            </a:avLst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447900" y="1750000"/>
            <a:ext cx="1850000" cy="255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567900" y="1870000"/>
            <a:ext cx="420000" cy="420000"/>
          </a:xfrm>
          <a:prstGeom prst="ellipse">
            <a:avLst/>
          </a:prstGeom>
          <a:solidFill>
            <a:srgbClr val="027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37900" y="2370000"/>
            <a:ext cx="1670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277BD"/>
                </a:solidFill>
                <a:latin typeface="Arial"/>
              </a:rPr>
              <a:t>RISK SCORING &amp;</a:t>
            </a:r>
          </a:p>
          <a:p>
            <a:r>
              <a:rPr sz="1300" b="1" i="0">
                <a:solidFill>
                  <a:srgbClr val="0277BD"/>
                </a:solidFill>
                <a:latin typeface="Arial"/>
              </a:rPr>
              <a:t>DECISION LOGIC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37900" y="3030000"/>
            <a:ext cx="1670000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Logistic regression risk probability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+ business rules (e.g. 2+ missed pmts)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→ Low / Medium / High risk tier</a:t>
            </a:r>
          </a:p>
        </p:txBody>
      </p:sp>
      <p:sp>
        <p:nvSpPr>
          <p:cNvPr id="79" name="Chevron 78"/>
          <p:cNvSpPr/>
          <p:nvPr/>
        </p:nvSpPr>
        <p:spPr>
          <a:xfrm>
            <a:off x="4307900" y="2935000"/>
            <a:ext cx="190000" cy="180000"/>
          </a:xfrm>
          <a:prstGeom prst="chevron">
            <a:avLst>
              <a:gd name="adj" fmla="val 55000"/>
            </a:avLst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507900" y="1750000"/>
            <a:ext cx="1850000" cy="255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27900" y="1870000"/>
            <a:ext cx="420000" cy="42000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97900" y="2370000"/>
            <a:ext cx="1670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39BE5"/>
                </a:solidFill>
                <a:latin typeface="Arial"/>
              </a:rPr>
              <a:t>ACTIONS &amp;</a:t>
            </a:r>
          </a:p>
          <a:p>
            <a:r>
              <a:rPr sz="1300" b="1" i="0">
                <a:solidFill>
                  <a:srgbClr val="039BE5"/>
                </a:solidFill>
                <a:latin typeface="Arial"/>
              </a:rPr>
              <a:t>OUTREACH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7900" y="3030000"/>
            <a:ext cx="1670000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Low/Med: automated reminders (SMS/email)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High: flagged to Collections watch-list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Human review for hardship offers</a:t>
            </a:r>
          </a:p>
        </p:txBody>
      </p:sp>
      <p:sp>
        <p:nvSpPr>
          <p:cNvPr id="84" name="Chevron 83"/>
          <p:cNvSpPr/>
          <p:nvPr/>
        </p:nvSpPr>
        <p:spPr>
          <a:xfrm>
            <a:off x="6367900" y="2935000"/>
            <a:ext cx="190000" cy="180000"/>
          </a:xfrm>
          <a:prstGeom prst="chevron">
            <a:avLst>
              <a:gd name="adj" fmla="val 55000"/>
            </a:avLst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567900" y="1750000"/>
            <a:ext cx="1850000" cy="255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687900" y="1870000"/>
            <a:ext cx="420000" cy="4200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57900" y="2370000"/>
            <a:ext cx="1670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BC34A"/>
                </a:solidFill>
                <a:latin typeface="Arial"/>
              </a:rPr>
              <a:t>LEARNING LOOP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57900" y="3030000"/>
            <a:ext cx="1670000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Track cure &amp; delinquency outcomes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Monitor fairness metrics monthly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• Retrain &amp; re-validate quarterly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Works: Inputs, Logic &amp; the Learning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7900" y="1550000"/>
            <a:ext cx="4064100" cy="3280000"/>
          </a:xfrm>
          <a:prstGeom prst="roundRect">
            <a:avLst>
              <a:gd name="adj" fmla="val 4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7900" y="1730000"/>
            <a:ext cx="36241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09688"/>
                </a:solidFill>
                <a:latin typeface="Arial"/>
              </a:rPr>
              <a:t>INPUTS &amp;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900" y="2250000"/>
            <a:ext cx="36241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Top predictive signals: repeated missed/late payments (Month_1–Month_6), credit utilization, credit score, loan balance, income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A logistic regression model converts these into a delinquency probability (0–1) — chosen for transparency over more complex, harder-to-explain models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Business rule layer: 2+ missed/late payments in 6 months → added to weekly watch-list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Probability + rules together set a Low / Medium / High risk tier per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2000" y="1550000"/>
            <a:ext cx="4064100" cy="3280000"/>
          </a:xfrm>
          <a:prstGeom prst="roundRect">
            <a:avLst>
              <a:gd name="adj" fmla="val 4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12000" y="1730000"/>
            <a:ext cx="36241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39BE5"/>
                </a:solidFill>
                <a:latin typeface="Arial"/>
              </a:rPr>
              <a:t>ACTIONS &amp; THE LEARNING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2000" y="2250000"/>
            <a:ext cx="36241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Low risk: no action, standard statement only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Medium risk: automated reminders and payment nudges (SMS/email)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High risk (watch-list): routed to Collections staff for outreach and hardship/repayment options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Learning loop: cure &amp; delinquency rates tracked through a 90-day pilot; fairness metrics reviewed monthly; model retrained and re-validated quarterly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87900" y="1420000"/>
            <a:ext cx="83682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1">
                <a:solidFill>
                  <a:srgbClr val="CFD8DC"/>
                </a:solidFill>
                <a:latin typeface="Arial"/>
              </a:rPr>
              <a:t>Routine, low-risk actions run autonomously; anything that changes a customer's financial standing or account status requires human sign-off.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387900" y="2000000"/>
          <a:ext cx="8368200" cy="294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Autonomous AI Actions</a:t>
                      </a:r>
                    </a:p>
                  </a:txBody>
                  <a:tcPr marL="140000" marR="120000" marT="70000" marB="70000"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Human Oversight Required</a:t>
                      </a:r>
                    </a:p>
                  </a:txBody>
                  <a:tcPr marL="140000" marR="120000" marT="70000" marB="70000" anchor="ctr">
                    <a:solidFill>
                      <a:srgbClr val="027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Score &amp; tier every account weekly (risk probability + business rules)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Approve or adjust risk-tier thresholds each quarter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Build the flagged watch-list (2+ missed/late payments in 6 months)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Review and prioritize which watch-list accounts get contacted first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Send standard reminders &amp; nudges (SMS/email) to low/medium-risk accounts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Approve hardship plans, payment-plan restructuring, or settlements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Log the reason codes and feature drivers behind every decision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Decide on account escalation (agency referral, credit bureau reporting, legal action)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Monitor fairness metrics (precision/recall by group) and flag anomalies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Investigate flagged fairness anomalies and approve any model or threshold changes</a:t>
                      </a:r>
                    </a:p>
                  </a:txBody>
                  <a:tcPr marL="140000" marR="120000" marT="50000" marB="50000" anchor="ctr">
                    <a:solidFill>
                      <a:srgbClr val="004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Track outcomes and prepare monthly performance reports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FFFFFF"/>
                          </a:solidFill>
                          <a:latin typeface="Arial"/>
                        </a:rPr>
                        <a:t>Sign off on quarterly model retraining and redeployment</a:t>
                      </a:r>
                    </a:p>
                  </a:txBody>
                  <a:tcPr marL="140000" marR="120000" marT="50000" marB="50000" anchor="ctr">
                    <a:solidFill>
                      <a:srgbClr val="0A5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387900" y="1500000"/>
            <a:ext cx="4094100" cy="160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567900" y="1680000"/>
            <a:ext cx="420000" cy="42000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7900" y="1670000"/>
            <a:ext cx="3214100" cy="4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009688"/>
                </a:solidFill>
                <a:latin typeface="Arial"/>
              </a:rPr>
              <a:t>Fairness Monitoring &amp; Bias Testing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7900" y="2180000"/>
            <a:ext cx="3654100" cy="8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Arial"/>
              </a:rPr>
              <a:t>Standardize inconsistent data categories (e.g., employment labels) and compare precision, recall, and false-positive/negative rates across customer groups before and after deployment; correct material gaps.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62000" y="1500000"/>
            <a:ext cx="4094100" cy="160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842000" y="1680000"/>
            <a:ext cx="420000" cy="420000"/>
          </a:xfrm>
          <a:prstGeom prst="ellipse">
            <a:avLst/>
          </a:prstGeom>
          <a:solidFill>
            <a:srgbClr val="027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62000" y="1670000"/>
            <a:ext cx="3214100" cy="4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0277BD"/>
                </a:solidFill>
                <a:latin typeface="Arial"/>
              </a:rPr>
              <a:t>Explainability by Design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82000" y="2180000"/>
            <a:ext cx="3654100" cy="8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Arial"/>
              </a:rPr>
              <a:t>Logistic regression was chosen specifically for its transparency. Every flagged account carries a plain-language reason (e.g., “2 missed payments + high utilization”), not just a score.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7900" y="3280000"/>
            <a:ext cx="4094100" cy="160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67900" y="3460000"/>
            <a:ext cx="420000" cy="42000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7900" y="3450000"/>
            <a:ext cx="3214100" cy="4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039BE5"/>
                </a:solidFill>
                <a:latin typeface="Arial"/>
              </a:rPr>
              <a:t>Regulatory &amp; Data Compliance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900" y="3960000"/>
            <a:ext cx="3654100" cy="8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Arial"/>
              </a:rPr>
              <a:t>Actions align with fair-lending and debt-collection rules (e.g., ECOA, FDCPA) and data-privacy requirements. Model limitations and data lineage are documented and version-controlled.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662000" y="3280000"/>
            <a:ext cx="4094100" cy="160000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4842000" y="3460000"/>
            <a:ext cx="420000" cy="4200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62000" y="3450000"/>
            <a:ext cx="3214100" cy="4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8BC34A"/>
                </a:solidFill>
                <a:latin typeface="Arial"/>
              </a:rPr>
              <a:t>Human-in-the-Loop &amp; Reversibility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82000" y="3960000"/>
            <a:ext cx="3654100" cy="8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Arial"/>
              </a:rPr>
              <a:t>The model supports prioritization and outreach only. No irreversible action (credit bureau reporting, legal referral) is automated without human review, and performance is re-validated on a regular cadence.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87900" y="1500000"/>
            <a:ext cx="4064100" cy="3350000"/>
          </a:xfrm>
          <a:prstGeom prst="roundRect">
            <a:avLst>
              <a:gd name="adj" fmla="val 4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07900" y="1680000"/>
            <a:ext cx="36241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FFEB38"/>
                </a:solidFill>
                <a:latin typeface="Arial"/>
              </a:rPr>
              <a:t>BUSINESS KPIs  (Quantitative)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7900" y="2180000"/>
            <a:ext cx="36241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Reduced delinquency rate among flagged watch-list accounts, measured against baseline during the 90-day pilot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Lower cost-to-collect: routine reminders run automatically, freeing staff time for complex, high-risk cases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Faster time-to-contact: weekly automated scoring replaces slower manual review cycles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Higher cure rate: more accounts return to current status before reaching serious delinquency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92000" y="1500000"/>
            <a:ext cx="4064100" cy="3350000"/>
          </a:xfrm>
          <a:prstGeom prst="roundRect">
            <a:avLst>
              <a:gd name="adj" fmla="val 4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912000" y="1680000"/>
            <a:ext cx="36241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8BC34A"/>
                </a:solidFill>
                <a:latin typeface="Arial"/>
              </a:rPr>
              <a:t>CUSTOMER OUTCOMES  (Qualitative)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12000" y="2180000"/>
            <a:ext cx="36241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Earlier, more supportive contact — instead of contact only after an account is already seriously delinquent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Personalized hardship and repayment options matched to a customer's actual situation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More consistent, explainable treatment across customer groups, reducing the risk of unfair outcomes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•  Greater transparency: customers understand why they were contacted and what their options 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Roadmap: 90-Day 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7900" y="1700000"/>
            <a:ext cx="2480000" cy="2700000"/>
          </a:xfrm>
          <a:prstGeom prst="roundRect">
            <a:avLst>
              <a:gd name="adj" fmla="val 5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7900" y="1870000"/>
            <a:ext cx="1400000" cy="360000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900" y="228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CFD8DC"/>
                </a:solidFill>
                <a:latin typeface="Arial"/>
              </a:rPr>
              <a:t>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7900" y="2600000"/>
            <a:ext cx="21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09688"/>
                </a:solidFill>
                <a:latin typeface="Arial"/>
              </a:rPr>
              <a:t>Data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900" y="3100000"/>
            <a:ext cx="212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Clean inconsistent employment categories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Validate credit-utilization outliers (values above 100%)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Finalize watch-list business rules and risk-tier thresholds</a:t>
            </a:r>
          </a:p>
        </p:txBody>
      </p:sp>
      <p:sp>
        <p:nvSpPr>
          <p:cNvPr id="8" name="Chevron 7"/>
          <p:cNvSpPr/>
          <p:nvPr/>
        </p:nvSpPr>
        <p:spPr>
          <a:xfrm>
            <a:off x="2882900" y="2960000"/>
            <a:ext cx="250000" cy="180000"/>
          </a:xfrm>
          <a:prstGeom prst="chevron">
            <a:avLst>
              <a:gd name="adj" fmla="val 55000"/>
            </a:avLst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47900" y="1700000"/>
            <a:ext cx="2480000" cy="2700000"/>
          </a:xfrm>
          <a:prstGeom prst="roundRect">
            <a:avLst>
              <a:gd name="adj" fmla="val 5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27900" y="1870000"/>
            <a:ext cx="1400000" cy="360000"/>
          </a:xfrm>
          <a:prstGeom prst="roundRect">
            <a:avLst>
              <a:gd name="adj" fmla="val 50000"/>
            </a:avLst>
          </a:prstGeom>
          <a:solidFill>
            <a:srgbClr val="027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7900" y="228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CFD8DC"/>
                </a:solidFill>
                <a:latin typeface="Arial"/>
              </a:rPr>
              <a:t>Weeks 3–12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7900" y="2600000"/>
            <a:ext cx="21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277BD"/>
                </a:solidFill>
                <a:latin typeface="Arial"/>
              </a:rPr>
              <a:t>Pilot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7900" y="3100000"/>
            <a:ext cx="212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Weekly automated scoring goes live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Automated reminders + Collections outreach on watch-list accounts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Fairness metrics monitored monthly during the pilot</a:t>
            </a:r>
          </a:p>
        </p:txBody>
      </p:sp>
      <p:sp>
        <p:nvSpPr>
          <p:cNvPr id="14" name="Chevron 13"/>
          <p:cNvSpPr/>
          <p:nvPr/>
        </p:nvSpPr>
        <p:spPr>
          <a:xfrm>
            <a:off x="5642900" y="2960000"/>
            <a:ext cx="250000" cy="180000"/>
          </a:xfrm>
          <a:prstGeom prst="chevron">
            <a:avLst>
              <a:gd name="adj" fmla="val 55000"/>
            </a:avLst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07900" y="1700000"/>
            <a:ext cx="2480000" cy="2700000"/>
          </a:xfrm>
          <a:prstGeom prst="roundRect">
            <a:avLst>
              <a:gd name="adj" fmla="val 5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87900" y="1870000"/>
            <a:ext cx="1400000" cy="360000"/>
          </a:xfrm>
          <a:prstGeom prst="roundRect">
            <a:avLst>
              <a:gd name="adj" fmla="val 50000"/>
            </a:avLst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7900" y="228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CFD8DC"/>
                </a:solidFill>
                <a:latin typeface="Arial"/>
              </a:rPr>
              <a:t>Week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7900" y="2600000"/>
            <a:ext cx="21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39BE5"/>
                </a:solidFill>
                <a:latin typeface="Arial"/>
              </a:rPr>
              <a:t>Review &amp;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7900" y="3100000"/>
            <a:ext cx="212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Compare delinquency &amp; cure rates vs. baseline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Run a fairness and explainability audit</a:t>
            </a:r>
          </a:p>
          <a:p>
            <a:pPr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• Decide whether to scale, adjust, or stop the workflow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1105</Words>
  <Application>Microsoft Office PowerPoint</Application>
  <PresentationFormat>On-screen Show (16:9)</PresentationFormat>
  <Paragraphs>112</Paragraphs>
  <Slides>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Roboto Slab</vt:lpstr>
      <vt:lpstr>Roboto</vt:lpstr>
      <vt:lpstr>Marina</vt:lpstr>
      <vt:lpstr>Adobe Acrobat Document</vt:lpstr>
      <vt:lpstr>AI-Powered Collections Strategy</vt:lpstr>
      <vt:lpstr>PowerPoint Presentation</vt:lpstr>
      <vt:lpstr>How the System Works: End-to-End Flow</vt:lpstr>
      <vt:lpstr>How the System Works: Inputs, Logic &amp; the Learning Loop</vt:lpstr>
      <vt:lpstr>Role of Agentic AI</vt:lpstr>
      <vt:lpstr>Responsible AI Guardrails</vt:lpstr>
      <vt:lpstr>Expected Business Impact</vt:lpstr>
      <vt:lpstr>Implementation Roadmap: 90-Day Pilot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5</cp:revision>
  <dcterms:modified xsi:type="dcterms:W3CDTF">2026-08-21T13:23:03Z</dcterms:modified>
</cp:coreProperties>
</file>